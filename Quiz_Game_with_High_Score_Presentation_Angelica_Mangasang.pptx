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6D5BD0"/>
          </a:solidFill>
          <a:ln w="12700">
            <a:solidFill>
              <a:srgbClr val="6D5BD0"/>
            </a:solidFill>
            <a:prstDash val="solid"/>
          </a:ln>
        </p:spPr>
      </p:sp>
      <p:sp>
        <p:nvSpPr>
          <p:cNvPr id="3" name="Text 1"/>
          <p:cNvSpPr/>
          <p:nvPr/>
        </p:nvSpPr>
        <p:spPr>
          <a:xfrm>
            <a:off x="502920" y="6473952"/>
            <a:ext cx="5029200" cy="164592"/>
          </a:xfrm>
          <a:prstGeom prst="rect">
            <a:avLst/>
          </a:prstGeom>
          <a:noFill/>
          <a:ln/>
        </p:spPr>
        <p:txBody>
          <a:bodyPr wrap="square" lIns="0" tIns="0" rIns="0" bIns="0" rtlCol="0" anchor="ctr"/>
          <a:lstStyle/>
          <a:p>
            <a:pPr indent="0" marL="0">
              <a:buNone/>
            </a:pPr>
            <a:r>
              <a:rPr lang="en-US" sz="900" dirty="0">
                <a:solidFill>
                  <a:srgbClr val="6B7280"/>
                </a:solidFill>
                <a:latin typeface="Aptos" pitchFamily="34" charset="0"/>
                <a:ea typeface="Aptos" pitchFamily="34" charset="-122"/>
                <a:cs typeface="Aptos" pitchFamily="34" charset="-120"/>
              </a:rPr>
              <a:t>ITE 260 • Computer Programming 1</a:t>
            </a:r>
            <a:endParaRPr lang="en-US" sz="900" dirty="0"/>
          </a:p>
        </p:txBody>
      </p:sp>
      <p:sp>
        <p:nvSpPr>
          <p:cNvPr id="4" name="Text 2"/>
          <p:cNvSpPr/>
          <p:nvPr/>
        </p:nvSpPr>
        <p:spPr>
          <a:xfrm>
            <a:off x="7543800" y="6473952"/>
            <a:ext cx="4114800" cy="164592"/>
          </a:xfrm>
          <a:prstGeom prst="rect">
            <a:avLst/>
          </a:prstGeom>
          <a:noFill/>
          <a:ln/>
        </p:spPr>
        <p:txBody>
          <a:bodyPr wrap="square" lIns="0" tIns="0" rIns="0" bIns="0" rtlCol="0" anchor="ctr"/>
          <a:lstStyle/>
          <a:p>
            <a:pPr algn="r" indent="0" marL="0">
              <a:buNone/>
            </a:pPr>
            <a:r>
              <a:rPr lang="en-US" sz="900" dirty="0">
                <a:solidFill>
                  <a:srgbClr val="6B7280"/>
                </a:solidFill>
                <a:latin typeface="Aptos" pitchFamily="34" charset="0"/>
                <a:ea typeface="Aptos" pitchFamily="34" charset="-122"/>
                <a:cs typeface="Aptos" pitchFamily="34" charset="-120"/>
              </a:rPr>
              <a:t>MANGASANG, ANGELICA B.</a:t>
            </a:r>
            <a:endParaRPr lang="en-US" sz="900" dirty="0"/>
          </a:p>
        </p:txBody>
      </p:sp>
      <p:sp>
        <p:nvSpPr>
          <p:cNvPr id="25" name="Slide Number Placeholder 0"/>
          <p:cNvSpPr>
            <a:spLocks noGrp="1"/>
          </p:cNvSpPr>
          <p:nvPr>
            <p:ph type="sldNum" sz="quarter" idx="4294967295"/>
          </p:nvPr>
        </p:nvSpPr>
        <p:spPr>
          <a:xfrm>
            <a:off x="11750040" y="6473952"/>
            <a:ext cx="18288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73952"/>
            <a:ext cx="18288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13232" y="1051560"/>
            <a:ext cx="10744200" cy="4526280"/>
          </a:xfrm>
          <a:prstGeom prst="roundRect">
            <a:avLst>
              <a:gd name="adj" fmla="val 2424"/>
            </a:avLst>
          </a:prstGeom>
          <a:solidFill>
            <a:srgbClr val="FFFFFF"/>
          </a:solidFill>
          <a:ln w="12700">
            <a:solidFill>
              <a:srgbClr val="E5E7EB"/>
            </a:solidFill>
            <a:prstDash val="solid"/>
          </a:ln>
          <a:effectLst>
            <a:outerShdw sx="100000" sy="100000" kx="0" ky="0" algn="bl" rotWithShape="0" blurRad="25400" dist="12700" dir="2700000">
              <a:srgbClr val="000000">
                <a:alpha val="12000"/>
              </a:srgbClr>
            </a:outerShdw>
          </a:effectLst>
        </p:spPr>
      </p:sp>
      <p:sp>
        <p:nvSpPr>
          <p:cNvPr id="3" name="Shape 1"/>
          <p:cNvSpPr/>
          <p:nvPr/>
        </p:nvSpPr>
        <p:spPr>
          <a:xfrm>
            <a:off x="4251960" y="1481328"/>
            <a:ext cx="3703320" cy="347472"/>
          </a:xfrm>
          <a:prstGeom prst="roundRect">
            <a:avLst>
              <a:gd name="adj" fmla="val 21053"/>
            </a:avLst>
          </a:prstGeom>
          <a:solidFill>
            <a:srgbClr val="EEEAFE"/>
          </a:solidFill>
          <a:ln w="12700">
            <a:solidFill>
              <a:srgbClr val="D8D0FA"/>
            </a:solidFill>
            <a:prstDash val="solid"/>
          </a:ln>
        </p:spPr>
      </p:sp>
      <p:sp>
        <p:nvSpPr>
          <p:cNvPr id="4" name="Text 2"/>
          <p:cNvSpPr/>
          <p:nvPr/>
        </p:nvSpPr>
        <p:spPr>
          <a:xfrm>
            <a:off x="4343400" y="1545336"/>
            <a:ext cx="3520440" cy="164592"/>
          </a:xfrm>
          <a:prstGeom prst="rect">
            <a:avLst/>
          </a:prstGeom>
          <a:noFill/>
          <a:ln/>
        </p:spPr>
        <p:txBody>
          <a:bodyPr wrap="square" lIns="0" tIns="0" rIns="0" bIns="0" rtlCol="0" anchor="ctr"/>
          <a:lstStyle/>
          <a:p>
            <a:pPr algn="ctr" indent="0" marL="0">
              <a:buNone/>
            </a:pPr>
            <a:r>
              <a:rPr lang="en-US" sz="1100" b="1" dirty="0">
                <a:solidFill>
                  <a:srgbClr val="5B4BC4"/>
                </a:solidFill>
              </a:rPr>
              <a:t>MINI PROJECT PRESENTATION</a:t>
            </a:r>
            <a:endParaRPr lang="en-US" sz="1100" dirty="0"/>
          </a:p>
        </p:txBody>
      </p:sp>
      <p:sp>
        <p:nvSpPr>
          <p:cNvPr id="5" name="Text 3"/>
          <p:cNvSpPr/>
          <p:nvPr/>
        </p:nvSpPr>
        <p:spPr>
          <a:xfrm>
            <a:off x="1417320" y="2029968"/>
            <a:ext cx="9326880" cy="1417320"/>
          </a:xfrm>
          <a:prstGeom prst="rect">
            <a:avLst/>
          </a:prstGeom>
          <a:noFill/>
          <a:ln/>
        </p:spPr>
        <p:txBody>
          <a:bodyPr wrap="square" lIns="0" tIns="0" rIns="0" bIns="0" rtlCol="0" anchor="ctr"/>
          <a:lstStyle/>
          <a:p>
            <a:pPr algn="ctr" indent="0" marL="0">
              <a:buNone/>
            </a:pPr>
            <a:r>
              <a:rPr lang="en-US" sz="3400" b="1" dirty="0">
                <a:solidFill>
                  <a:srgbClr val="1F2937"/>
                </a:solidFill>
                <a:latin typeface="Aptos Display" pitchFamily="34" charset="0"/>
                <a:ea typeface="Aptos Display" pitchFamily="34" charset="-122"/>
                <a:cs typeface="Aptos Display" pitchFamily="34" charset="-120"/>
              </a:rPr>
              <a:t>Quiz Game with</a:t>
            </a:r>
            <a:endParaRPr lang="en-US" sz="3400" dirty="0"/>
          </a:p>
          <a:p>
            <a:pPr algn="ctr" indent="0" marL="0">
              <a:buNone/>
            </a:pPr>
            <a:r>
              <a:rPr lang="en-US" sz="3400" b="1" dirty="0">
                <a:solidFill>
                  <a:srgbClr val="1F2937"/>
                </a:solidFill>
                <a:latin typeface="Aptos Display" pitchFamily="34" charset="0"/>
                <a:ea typeface="Aptos Display" pitchFamily="34" charset="-122"/>
                <a:cs typeface="Aptos Display" pitchFamily="34" charset="-120"/>
              </a:rPr>
              <a:t>High Score</a:t>
            </a:r>
            <a:endParaRPr lang="en-US" sz="3400" dirty="0"/>
          </a:p>
        </p:txBody>
      </p:sp>
      <p:sp>
        <p:nvSpPr>
          <p:cNvPr id="6" name="Text 4"/>
          <p:cNvSpPr/>
          <p:nvPr/>
        </p:nvSpPr>
        <p:spPr>
          <a:xfrm>
            <a:off x="1920240" y="3657600"/>
            <a:ext cx="8321040" cy="658368"/>
          </a:xfrm>
          <a:prstGeom prst="rect">
            <a:avLst/>
          </a:prstGeom>
          <a:noFill/>
          <a:ln/>
        </p:spPr>
        <p:txBody>
          <a:bodyPr wrap="square" lIns="381" tIns="381" rIns="381" bIns="381" rtlCol="0" anchor="ctr"/>
          <a:lstStyle/>
          <a:p>
            <a:pPr algn="ctr" indent="0" marL="0">
              <a:buNone/>
            </a:pPr>
            <a:r>
              <a:rPr lang="en-US" sz="1700" dirty="0">
                <a:solidFill>
                  <a:srgbClr val="4B5563"/>
                </a:solidFill>
              </a:rPr>
              <a:t>A Python-based multiple-choice quiz that checks answers, calculates scores, and tracks the player’s high score.</a:t>
            </a:r>
            <a:endParaRPr lang="en-US" sz="1700" dirty="0"/>
          </a:p>
        </p:txBody>
      </p:sp>
      <p:sp>
        <p:nvSpPr>
          <p:cNvPr id="7" name="Shape 5"/>
          <p:cNvSpPr/>
          <p:nvPr/>
        </p:nvSpPr>
        <p:spPr>
          <a:xfrm>
            <a:off x="4023360" y="4590288"/>
            <a:ext cx="4114800" cy="0"/>
          </a:xfrm>
          <a:prstGeom prst="line">
            <a:avLst/>
          </a:prstGeom>
          <a:noFill/>
          <a:ln w="25400">
            <a:solidFill>
              <a:srgbClr val="DDD6FE"/>
            </a:solidFill>
            <a:prstDash val="solid"/>
          </a:ln>
        </p:spPr>
      </p:sp>
      <p:sp>
        <p:nvSpPr>
          <p:cNvPr id="8" name="Text 6"/>
          <p:cNvSpPr/>
          <p:nvPr/>
        </p:nvSpPr>
        <p:spPr>
          <a:xfrm>
            <a:off x="3017520" y="4828032"/>
            <a:ext cx="6126480" cy="320040"/>
          </a:xfrm>
          <a:prstGeom prst="rect">
            <a:avLst/>
          </a:prstGeom>
          <a:noFill/>
          <a:ln/>
        </p:spPr>
        <p:txBody>
          <a:bodyPr wrap="square" lIns="0" tIns="0" rIns="0" bIns="0" rtlCol="0" anchor="ctr"/>
          <a:lstStyle/>
          <a:p>
            <a:pPr algn="ctr" indent="0" marL="0">
              <a:buNone/>
            </a:pPr>
            <a:r>
              <a:rPr lang="en-US" sz="1600" b="1" dirty="0">
                <a:solidFill>
                  <a:srgbClr val="5B4BC4"/>
                </a:solidFill>
              </a:rPr>
              <a:t>MANGASANG, ANGELICA B.</a:t>
            </a:r>
            <a:endParaRPr lang="en-US" sz="1600" dirty="0"/>
          </a:p>
        </p:txBody>
      </p:sp>
      <p:sp>
        <p:nvSpPr>
          <p:cNvPr id="9" name="Text 7"/>
          <p:cNvSpPr/>
          <p:nvPr/>
        </p:nvSpPr>
        <p:spPr>
          <a:xfrm>
            <a:off x="3017520" y="5184648"/>
            <a:ext cx="6126480" cy="274320"/>
          </a:xfrm>
          <a:prstGeom prst="rect">
            <a:avLst/>
          </a:prstGeom>
          <a:noFill/>
          <a:ln/>
        </p:spPr>
        <p:txBody>
          <a:bodyPr wrap="square" lIns="0" tIns="0" rIns="0" bIns="0" rtlCol="0" anchor="ctr"/>
          <a:lstStyle/>
          <a:p>
            <a:pPr algn="ctr" indent="0" marL="0">
              <a:buNone/>
            </a:pPr>
            <a:r>
              <a:rPr lang="en-US" sz="1200" dirty="0">
                <a:solidFill>
                  <a:srgbClr val="6B7280"/>
                </a:solidFill>
              </a:rPr>
              <a:t>PHINMA – University of Iloilo</a:t>
            </a:r>
            <a:endParaRPr lang="en-US" sz="1200" dirty="0"/>
          </a:p>
        </p:txBody>
      </p:sp>
      <p:sp>
        <p:nvSpPr>
          <p:cNvPr id="25" name="Slide Number Placeholder 0"/>
          <p:cNvSpPr>
            <a:spLocks noGrp="1"/>
          </p:cNvSpPr>
          <p:nvPr>
            <p:ph type="sldNum" sz="quarter" idx="4294967295"/>
          </p:nvPr>
        </p:nvSpPr>
        <p:spPr>
          <a:xfrm>
            <a:off x="11750040" y="6473952"/>
            <a:ext cx="18288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502920"/>
            <a:ext cx="10881360" cy="502920"/>
          </a:xfrm>
          <a:prstGeom prst="rect">
            <a:avLst/>
          </a:prstGeom>
          <a:noFill/>
          <a:ln/>
        </p:spPr>
        <p:txBody>
          <a:bodyPr wrap="square" lIns="0" tIns="0" rIns="0" bIns="0" rtlCol="0" anchor="ctr"/>
          <a:lstStyle/>
          <a:p>
            <a:pPr indent="0" marL="0">
              <a:buNone/>
            </a:pPr>
            <a:r>
              <a:rPr lang="en-US" sz="2800" b="1" dirty="0">
                <a:solidFill>
                  <a:srgbClr val="1F2937"/>
                </a:solidFill>
                <a:latin typeface="Aptos Display" pitchFamily="34" charset="0"/>
                <a:ea typeface="Aptos Display" pitchFamily="34" charset="-122"/>
                <a:cs typeface="Aptos Display" pitchFamily="34" charset="-120"/>
              </a:rPr>
              <a:t>Description</a:t>
            </a:r>
            <a:endParaRPr lang="en-US" sz="2800" dirty="0"/>
          </a:p>
        </p:txBody>
      </p:sp>
      <p:sp>
        <p:nvSpPr>
          <p:cNvPr id="3" name="Text 1"/>
          <p:cNvSpPr/>
          <p:nvPr/>
        </p:nvSpPr>
        <p:spPr>
          <a:xfrm>
            <a:off x="658368" y="1024128"/>
            <a:ext cx="10698480" cy="310896"/>
          </a:xfrm>
          <a:prstGeom prst="rect">
            <a:avLst/>
          </a:prstGeom>
          <a:noFill/>
          <a:ln/>
        </p:spPr>
        <p:txBody>
          <a:bodyPr wrap="square" lIns="0" tIns="0" rIns="0" bIns="0" rtlCol="0" anchor="ctr"/>
          <a:lstStyle/>
          <a:p>
            <a:pPr indent="0" marL="0">
              <a:buNone/>
            </a:pPr>
            <a:r>
              <a:rPr lang="en-US" sz="1300" dirty="0">
                <a:solidFill>
                  <a:srgbClr val="6B7280"/>
                </a:solidFill>
              </a:rPr>
              <a:t>What the program does</a:t>
            </a:r>
            <a:endParaRPr lang="en-US" sz="1300" dirty="0"/>
          </a:p>
        </p:txBody>
      </p:sp>
      <p:sp>
        <p:nvSpPr>
          <p:cNvPr id="4" name="Shape 2"/>
          <p:cNvSpPr/>
          <p:nvPr/>
        </p:nvSpPr>
        <p:spPr>
          <a:xfrm>
            <a:off x="685800" y="1554480"/>
            <a:ext cx="6995160" cy="4251960"/>
          </a:xfrm>
          <a:prstGeom prst="roundRect">
            <a:avLst>
              <a:gd name="adj" fmla="val 2151"/>
            </a:avLst>
          </a:prstGeom>
          <a:solidFill>
            <a:srgbClr val="FFFFFF"/>
          </a:solidFill>
          <a:ln w="12700">
            <a:solidFill>
              <a:srgbClr val="E5E7EB"/>
            </a:solidFill>
            <a:prstDash val="solid"/>
          </a:ln>
          <a:effectLst>
            <a:outerShdw sx="100000" sy="100000" kx="0" ky="0" algn="bl" rotWithShape="0" blurRad="19050" dist="10160" dir="2700000">
              <a:srgbClr val="000000">
                <a:alpha val="8000"/>
              </a:srgbClr>
            </a:outerShdw>
          </a:effectLst>
        </p:spPr>
      </p:sp>
      <p:sp>
        <p:nvSpPr>
          <p:cNvPr id="5" name="Text 3"/>
          <p:cNvSpPr/>
          <p:nvPr/>
        </p:nvSpPr>
        <p:spPr>
          <a:xfrm>
            <a:off x="1051560" y="1965960"/>
            <a:ext cx="6263640" cy="3291840"/>
          </a:xfrm>
          <a:prstGeom prst="rect">
            <a:avLst/>
          </a:prstGeom>
          <a:noFill/>
          <a:ln/>
        </p:spPr>
        <p:txBody>
          <a:bodyPr wrap="square" lIns="635" tIns="635" rIns="635" bIns="635" rtlCol="0" anchor="ctr">
            <a:normAutofit/>
          </a:bodyPr>
          <a:lstStyle/>
          <a:p>
            <a:pPr indent="0" marL="0">
              <a:buNone/>
            </a:pPr>
            <a:r>
              <a:rPr lang="en-US" sz="1800" dirty="0">
                <a:solidFill>
                  <a:srgbClr val="374151"/>
                </a:solidFill>
              </a:rPr>
              <a:t>Quiz Game with High Score is a terminal-based Python program that presents multiple-choice questions about basic computer and Python concepts. The player enters a name, answers each question using A, B, C, or D, and immediately receives feedback. After all questions are answered, the program calculates the total score and percentage, displays performance feedback, and keeps the highest score achieved during the session.</a:t>
            </a:r>
            <a:endParaRPr lang="en-US" sz="1800" dirty="0"/>
          </a:p>
        </p:txBody>
      </p:sp>
      <p:sp>
        <p:nvSpPr>
          <p:cNvPr id="6" name="Shape 4"/>
          <p:cNvSpPr/>
          <p:nvPr/>
        </p:nvSpPr>
        <p:spPr>
          <a:xfrm>
            <a:off x="8092440" y="1664208"/>
            <a:ext cx="3246120" cy="804672"/>
          </a:xfrm>
          <a:prstGeom prst="roundRect">
            <a:avLst>
              <a:gd name="adj" fmla="val 9091"/>
            </a:avLst>
          </a:prstGeom>
          <a:solidFill>
            <a:srgbClr val="EEEAFE"/>
          </a:solidFill>
          <a:ln w="12700">
            <a:solidFill>
              <a:srgbClr val="D8D0FA"/>
            </a:solidFill>
            <a:prstDash val="solid"/>
          </a:ln>
        </p:spPr>
      </p:sp>
      <p:sp>
        <p:nvSpPr>
          <p:cNvPr id="7" name="Text 5"/>
          <p:cNvSpPr/>
          <p:nvPr/>
        </p:nvSpPr>
        <p:spPr>
          <a:xfrm>
            <a:off x="8302752" y="1783080"/>
            <a:ext cx="658368" cy="347472"/>
          </a:xfrm>
          <a:prstGeom prst="rect">
            <a:avLst/>
          </a:prstGeom>
          <a:noFill/>
          <a:ln/>
        </p:spPr>
        <p:txBody>
          <a:bodyPr wrap="square" lIns="0" tIns="0" rIns="0" bIns="0" rtlCol="0" anchor="ctr"/>
          <a:lstStyle/>
          <a:p>
            <a:pPr algn="ctr" indent="0" marL="0">
              <a:buNone/>
            </a:pPr>
            <a:r>
              <a:rPr lang="en-US" sz="2200" b="1" dirty="0">
                <a:solidFill>
                  <a:srgbClr val="5B4BC4"/>
                </a:solidFill>
              </a:rPr>
              <a:t>10</a:t>
            </a:r>
            <a:endParaRPr lang="en-US" sz="2200" dirty="0"/>
          </a:p>
        </p:txBody>
      </p:sp>
      <p:sp>
        <p:nvSpPr>
          <p:cNvPr id="8" name="Text 6"/>
          <p:cNvSpPr/>
          <p:nvPr/>
        </p:nvSpPr>
        <p:spPr>
          <a:xfrm>
            <a:off x="9070848" y="1856232"/>
            <a:ext cx="1965960" cy="274320"/>
          </a:xfrm>
          <a:prstGeom prst="rect">
            <a:avLst/>
          </a:prstGeom>
          <a:noFill/>
          <a:ln/>
        </p:spPr>
        <p:txBody>
          <a:bodyPr wrap="square" lIns="0" tIns="0" rIns="0" bIns="0" rtlCol="0" anchor="ctr"/>
          <a:lstStyle/>
          <a:p>
            <a:pPr indent="0" marL="0">
              <a:buNone/>
            </a:pPr>
            <a:r>
              <a:rPr lang="en-US" sz="1400" b="1" dirty="0">
                <a:solidFill>
                  <a:srgbClr val="374151"/>
                </a:solidFill>
              </a:rPr>
              <a:t>Questions</a:t>
            </a:r>
            <a:endParaRPr lang="en-US" sz="1400" dirty="0"/>
          </a:p>
        </p:txBody>
      </p:sp>
      <p:sp>
        <p:nvSpPr>
          <p:cNvPr id="9" name="Shape 7"/>
          <p:cNvSpPr/>
          <p:nvPr/>
        </p:nvSpPr>
        <p:spPr>
          <a:xfrm>
            <a:off x="8092440" y="2688336"/>
            <a:ext cx="3246120" cy="804672"/>
          </a:xfrm>
          <a:prstGeom prst="roundRect">
            <a:avLst>
              <a:gd name="adj" fmla="val 9091"/>
            </a:avLst>
          </a:prstGeom>
          <a:solidFill>
            <a:srgbClr val="EAF7F0"/>
          </a:solidFill>
          <a:ln w="12700">
            <a:solidFill>
              <a:srgbClr val="CDEBDA"/>
            </a:solidFill>
            <a:prstDash val="solid"/>
          </a:ln>
        </p:spPr>
      </p:sp>
      <p:sp>
        <p:nvSpPr>
          <p:cNvPr id="10" name="Text 8"/>
          <p:cNvSpPr/>
          <p:nvPr/>
        </p:nvSpPr>
        <p:spPr>
          <a:xfrm>
            <a:off x="8302752" y="2807208"/>
            <a:ext cx="658368" cy="347472"/>
          </a:xfrm>
          <a:prstGeom prst="rect">
            <a:avLst/>
          </a:prstGeom>
          <a:noFill/>
          <a:ln/>
        </p:spPr>
        <p:txBody>
          <a:bodyPr wrap="square" lIns="0" tIns="0" rIns="0" bIns="0" rtlCol="0" anchor="ctr"/>
          <a:lstStyle/>
          <a:p>
            <a:pPr algn="ctr" indent="0" marL="0">
              <a:buNone/>
            </a:pPr>
            <a:r>
              <a:rPr lang="en-US" sz="2200" b="1" dirty="0">
                <a:solidFill>
                  <a:srgbClr val="287A55"/>
                </a:solidFill>
              </a:rPr>
              <a:t>A–D</a:t>
            </a:r>
            <a:endParaRPr lang="en-US" sz="2200" dirty="0"/>
          </a:p>
        </p:txBody>
      </p:sp>
      <p:sp>
        <p:nvSpPr>
          <p:cNvPr id="11" name="Text 9"/>
          <p:cNvSpPr/>
          <p:nvPr/>
        </p:nvSpPr>
        <p:spPr>
          <a:xfrm>
            <a:off x="9070848" y="2880360"/>
            <a:ext cx="1965960" cy="274320"/>
          </a:xfrm>
          <a:prstGeom prst="rect">
            <a:avLst/>
          </a:prstGeom>
          <a:noFill/>
          <a:ln/>
        </p:spPr>
        <p:txBody>
          <a:bodyPr wrap="square" lIns="0" tIns="0" rIns="0" bIns="0" rtlCol="0" anchor="ctr"/>
          <a:lstStyle/>
          <a:p>
            <a:pPr indent="0" marL="0">
              <a:buNone/>
            </a:pPr>
            <a:r>
              <a:rPr lang="en-US" sz="1400" b="1" dirty="0">
                <a:solidFill>
                  <a:srgbClr val="374151"/>
                </a:solidFill>
              </a:rPr>
              <a:t>Answer Input</a:t>
            </a:r>
            <a:endParaRPr lang="en-US" sz="1400" dirty="0"/>
          </a:p>
        </p:txBody>
      </p:sp>
      <p:sp>
        <p:nvSpPr>
          <p:cNvPr id="12" name="Shape 10"/>
          <p:cNvSpPr/>
          <p:nvPr/>
        </p:nvSpPr>
        <p:spPr>
          <a:xfrm>
            <a:off x="8092440" y="3712464"/>
            <a:ext cx="3246120" cy="804672"/>
          </a:xfrm>
          <a:prstGeom prst="roundRect">
            <a:avLst>
              <a:gd name="adj" fmla="val 9091"/>
            </a:avLst>
          </a:prstGeom>
          <a:solidFill>
            <a:srgbClr val="EEEAFE"/>
          </a:solidFill>
          <a:ln w="12700">
            <a:solidFill>
              <a:srgbClr val="D8D0FA"/>
            </a:solidFill>
            <a:prstDash val="solid"/>
          </a:ln>
        </p:spPr>
      </p:sp>
      <p:sp>
        <p:nvSpPr>
          <p:cNvPr id="13" name="Text 11"/>
          <p:cNvSpPr/>
          <p:nvPr/>
        </p:nvSpPr>
        <p:spPr>
          <a:xfrm>
            <a:off x="8302752" y="3831336"/>
            <a:ext cx="658368" cy="347472"/>
          </a:xfrm>
          <a:prstGeom prst="rect">
            <a:avLst/>
          </a:prstGeom>
          <a:noFill/>
          <a:ln/>
        </p:spPr>
        <p:txBody>
          <a:bodyPr wrap="square" lIns="0" tIns="0" rIns="0" bIns="0" rtlCol="0" anchor="ctr"/>
          <a:lstStyle/>
          <a:p>
            <a:pPr algn="ctr" indent="0" marL="0">
              <a:buNone/>
            </a:pPr>
            <a:r>
              <a:rPr lang="en-US" sz="2200" b="1" dirty="0">
                <a:solidFill>
                  <a:srgbClr val="5B4BC4"/>
                </a:solidFill>
              </a:rPr>
              <a:t>%</a:t>
            </a:r>
            <a:endParaRPr lang="en-US" sz="2200" dirty="0"/>
          </a:p>
        </p:txBody>
      </p:sp>
      <p:sp>
        <p:nvSpPr>
          <p:cNvPr id="14" name="Text 12"/>
          <p:cNvSpPr/>
          <p:nvPr/>
        </p:nvSpPr>
        <p:spPr>
          <a:xfrm>
            <a:off x="9070848" y="3904488"/>
            <a:ext cx="1965960" cy="274320"/>
          </a:xfrm>
          <a:prstGeom prst="rect">
            <a:avLst/>
          </a:prstGeom>
          <a:noFill/>
          <a:ln/>
        </p:spPr>
        <p:txBody>
          <a:bodyPr wrap="square" lIns="0" tIns="0" rIns="0" bIns="0" rtlCol="0" anchor="ctr"/>
          <a:lstStyle/>
          <a:p>
            <a:pPr indent="0" marL="0">
              <a:buNone/>
            </a:pPr>
            <a:r>
              <a:rPr lang="en-US" sz="1400" b="1" dirty="0">
                <a:solidFill>
                  <a:srgbClr val="374151"/>
                </a:solidFill>
              </a:rPr>
              <a:t>Score Result</a:t>
            </a:r>
            <a:endParaRPr lang="en-US" sz="1400" dirty="0"/>
          </a:p>
        </p:txBody>
      </p:sp>
      <p:sp>
        <p:nvSpPr>
          <p:cNvPr id="15" name="Shape 13"/>
          <p:cNvSpPr/>
          <p:nvPr/>
        </p:nvSpPr>
        <p:spPr>
          <a:xfrm>
            <a:off x="8092440" y="4736592"/>
            <a:ext cx="3246120" cy="804672"/>
          </a:xfrm>
          <a:prstGeom prst="roundRect">
            <a:avLst>
              <a:gd name="adj" fmla="val 9091"/>
            </a:avLst>
          </a:prstGeom>
          <a:solidFill>
            <a:srgbClr val="EAF7F0"/>
          </a:solidFill>
          <a:ln w="12700">
            <a:solidFill>
              <a:srgbClr val="CDEBDA"/>
            </a:solidFill>
            <a:prstDash val="solid"/>
          </a:ln>
        </p:spPr>
      </p:sp>
      <p:sp>
        <p:nvSpPr>
          <p:cNvPr id="16" name="Text 14"/>
          <p:cNvSpPr/>
          <p:nvPr/>
        </p:nvSpPr>
        <p:spPr>
          <a:xfrm>
            <a:off x="8302752" y="4855464"/>
            <a:ext cx="658368" cy="347472"/>
          </a:xfrm>
          <a:prstGeom prst="rect">
            <a:avLst/>
          </a:prstGeom>
          <a:noFill/>
          <a:ln/>
        </p:spPr>
        <p:txBody>
          <a:bodyPr wrap="square" lIns="0" tIns="0" rIns="0" bIns="0" rtlCol="0" anchor="ctr"/>
          <a:lstStyle/>
          <a:p>
            <a:pPr algn="ctr" indent="0" marL="0">
              <a:buNone/>
            </a:pPr>
            <a:r>
              <a:rPr lang="en-US" sz="2200" b="1" dirty="0">
                <a:solidFill>
                  <a:srgbClr val="287A55"/>
                </a:solidFill>
              </a:rPr>
              <a:t>★</a:t>
            </a:r>
            <a:endParaRPr lang="en-US" sz="2200" dirty="0"/>
          </a:p>
        </p:txBody>
      </p:sp>
      <p:sp>
        <p:nvSpPr>
          <p:cNvPr id="17" name="Text 15"/>
          <p:cNvSpPr/>
          <p:nvPr/>
        </p:nvSpPr>
        <p:spPr>
          <a:xfrm>
            <a:off x="9070848" y="4928616"/>
            <a:ext cx="1965960" cy="274320"/>
          </a:xfrm>
          <a:prstGeom prst="rect">
            <a:avLst/>
          </a:prstGeom>
          <a:noFill/>
          <a:ln/>
        </p:spPr>
        <p:txBody>
          <a:bodyPr wrap="square" lIns="0" tIns="0" rIns="0" bIns="0" rtlCol="0" anchor="ctr"/>
          <a:lstStyle/>
          <a:p>
            <a:pPr indent="0" marL="0">
              <a:buNone/>
            </a:pPr>
            <a:r>
              <a:rPr lang="en-US" sz="1400" b="1" dirty="0">
                <a:solidFill>
                  <a:srgbClr val="374151"/>
                </a:solidFill>
              </a:rPr>
              <a:t>High Score</a:t>
            </a:r>
            <a:endParaRPr lang="en-US" sz="1400" dirty="0"/>
          </a:p>
        </p:txBody>
      </p:sp>
      <p:sp>
        <p:nvSpPr>
          <p:cNvPr id="18" name="Text 16"/>
          <p:cNvSpPr/>
          <p:nvPr/>
        </p:nvSpPr>
        <p:spPr>
          <a:xfrm>
            <a:off x="8138160" y="5669280"/>
            <a:ext cx="3154680" cy="320040"/>
          </a:xfrm>
          <a:prstGeom prst="rect">
            <a:avLst/>
          </a:prstGeom>
          <a:noFill/>
          <a:ln/>
        </p:spPr>
        <p:txBody>
          <a:bodyPr wrap="square" lIns="0" tIns="0" rIns="0" bIns="0" rtlCol="0" anchor="ctr"/>
          <a:lstStyle/>
          <a:p>
            <a:pPr algn="ctr" indent="0" marL="0">
              <a:buNone/>
            </a:pPr>
            <a:r>
              <a:rPr lang="en-US" sz="1200" i="1" dirty="0">
                <a:solidFill>
                  <a:srgbClr val="6B7280"/>
                </a:solidFill>
              </a:rPr>
              <a:t>Key idea: simple Python fundamentals organized into clear functions.</a:t>
            </a:r>
            <a:endParaRPr lang="en-US" sz="1200" dirty="0"/>
          </a:p>
        </p:txBody>
      </p:sp>
      <p:sp>
        <p:nvSpPr>
          <p:cNvPr id="25" name="Slide Number Placeholder 0"/>
          <p:cNvSpPr>
            <a:spLocks noGrp="1"/>
          </p:cNvSpPr>
          <p:nvPr>
            <p:ph type="sldNum" sz="quarter" idx="4294967295"/>
          </p:nvPr>
        </p:nvSpPr>
        <p:spPr>
          <a:xfrm>
            <a:off x="11750040" y="6473952"/>
            <a:ext cx="18288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502920"/>
            <a:ext cx="10881360" cy="502920"/>
          </a:xfrm>
          <a:prstGeom prst="rect">
            <a:avLst/>
          </a:prstGeom>
          <a:noFill/>
          <a:ln/>
        </p:spPr>
        <p:txBody>
          <a:bodyPr wrap="square" lIns="0" tIns="0" rIns="0" bIns="0" rtlCol="0" anchor="ctr"/>
          <a:lstStyle/>
          <a:p>
            <a:pPr indent="0" marL="0">
              <a:buNone/>
            </a:pPr>
            <a:r>
              <a:rPr lang="en-US" sz="2800" b="1" dirty="0">
                <a:solidFill>
                  <a:srgbClr val="1F2937"/>
                </a:solidFill>
                <a:latin typeface="Aptos Display" pitchFamily="34" charset="0"/>
                <a:ea typeface="Aptos Display" pitchFamily="34" charset="-122"/>
                <a:cs typeface="Aptos Display" pitchFamily="34" charset="-120"/>
              </a:rPr>
              <a:t>Objectives</a:t>
            </a:r>
            <a:endParaRPr lang="en-US" sz="2800" dirty="0"/>
          </a:p>
        </p:txBody>
      </p:sp>
      <p:sp>
        <p:nvSpPr>
          <p:cNvPr id="3" name="Text 1"/>
          <p:cNvSpPr/>
          <p:nvPr/>
        </p:nvSpPr>
        <p:spPr>
          <a:xfrm>
            <a:off x="658368" y="1024128"/>
            <a:ext cx="10698480" cy="310896"/>
          </a:xfrm>
          <a:prstGeom prst="rect">
            <a:avLst/>
          </a:prstGeom>
          <a:noFill/>
          <a:ln/>
        </p:spPr>
        <p:txBody>
          <a:bodyPr wrap="square" lIns="0" tIns="0" rIns="0" bIns="0" rtlCol="0" anchor="ctr"/>
          <a:lstStyle/>
          <a:p>
            <a:pPr indent="0" marL="0">
              <a:buNone/>
            </a:pPr>
            <a:r>
              <a:rPr lang="en-US" sz="1300" dirty="0">
                <a:solidFill>
                  <a:srgbClr val="6B7280"/>
                </a:solidFill>
              </a:rPr>
              <a:t>What the project aims to achieve</a:t>
            </a:r>
            <a:endParaRPr lang="en-US" sz="1300" dirty="0"/>
          </a:p>
        </p:txBody>
      </p:sp>
      <p:sp>
        <p:nvSpPr>
          <p:cNvPr id="4" name="Shape 2"/>
          <p:cNvSpPr/>
          <p:nvPr/>
        </p:nvSpPr>
        <p:spPr>
          <a:xfrm>
            <a:off x="749808" y="1481328"/>
            <a:ext cx="10698480" cy="1078992"/>
          </a:xfrm>
          <a:prstGeom prst="roundRect">
            <a:avLst>
              <a:gd name="adj" fmla="val 6780"/>
            </a:avLst>
          </a:prstGeom>
          <a:solidFill>
            <a:srgbClr val="EEEAFE"/>
          </a:solidFill>
          <a:ln w="12700">
            <a:solidFill>
              <a:srgbClr val="D8D0FA"/>
            </a:solidFill>
            <a:prstDash val="solid"/>
          </a:ln>
        </p:spPr>
      </p:sp>
      <p:sp>
        <p:nvSpPr>
          <p:cNvPr id="5" name="Text 3"/>
          <p:cNvSpPr/>
          <p:nvPr/>
        </p:nvSpPr>
        <p:spPr>
          <a:xfrm>
            <a:off x="1024128" y="1755648"/>
            <a:ext cx="1920240" cy="237744"/>
          </a:xfrm>
          <a:prstGeom prst="rect">
            <a:avLst/>
          </a:prstGeom>
          <a:noFill/>
          <a:ln/>
        </p:spPr>
        <p:txBody>
          <a:bodyPr wrap="square" lIns="0" tIns="0" rIns="0" bIns="0" rtlCol="0" anchor="ctr"/>
          <a:lstStyle/>
          <a:p>
            <a:pPr indent="0" marL="0">
              <a:buNone/>
            </a:pPr>
            <a:r>
              <a:rPr lang="en-US" sz="1200" b="1" dirty="0">
                <a:solidFill>
                  <a:srgbClr val="5B4BC4"/>
                </a:solidFill>
              </a:rPr>
              <a:t>GENERAL OBJECTIVE</a:t>
            </a:r>
            <a:endParaRPr lang="en-US" sz="1200" dirty="0"/>
          </a:p>
        </p:txBody>
      </p:sp>
      <p:sp>
        <p:nvSpPr>
          <p:cNvPr id="6" name="Text 4"/>
          <p:cNvSpPr/>
          <p:nvPr/>
        </p:nvSpPr>
        <p:spPr>
          <a:xfrm>
            <a:off x="3429000" y="1673352"/>
            <a:ext cx="7178040" cy="411480"/>
          </a:xfrm>
          <a:prstGeom prst="rect">
            <a:avLst/>
          </a:prstGeom>
          <a:noFill/>
          <a:ln/>
        </p:spPr>
        <p:txBody>
          <a:bodyPr wrap="square" lIns="0" tIns="0" rIns="0" bIns="0" rtlCol="0" anchor="ctr"/>
          <a:lstStyle/>
          <a:p>
            <a:pPr indent="0" marL="0">
              <a:buNone/>
            </a:pPr>
            <a:r>
              <a:rPr lang="en-US" sz="2100" b="1" dirty="0">
                <a:solidFill>
                  <a:srgbClr val="1F2937"/>
                </a:solidFill>
              </a:rPr>
              <a:t>To develop a Quiz Game with High Score using Python.</a:t>
            </a:r>
            <a:endParaRPr lang="en-US" sz="2100" dirty="0"/>
          </a:p>
        </p:txBody>
      </p:sp>
      <p:sp>
        <p:nvSpPr>
          <p:cNvPr id="7" name="Shape 5"/>
          <p:cNvSpPr/>
          <p:nvPr/>
        </p:nvSpPr>
        <p:spPr>
          <a:xfrm>
            <a:off x="1005840" y="2898648"/>
            <a:ext cx="457200" cy="457200"/>
          </a:xfrm>
          <a:prstGeom prst="ellipse">
            <a:avLst/>
          </a:prstGeom>
          <a:solidFill>
            <a:srgbClr val="5B4BC4"/>
          </a:solidFill>
          <a:ln w="12700">
            <a:solidFill>
              <a:srgbClr val="5B4BC4"/>
            </a:solidFill>
            <a:prstDash val="solid"/>
          </a:ln>
        </p:spPr>
      </p:sp>
      <p:sp>
        <p:nvSpPr>
          <p:cNvPr id="8" name="Text 6"/>
          <p:cNvSpPr/>
          <p:nvPr/>
        </p:nvSpPr>
        <p:spPr>
          <a:xfrm>
            <a:off x="1005840" y="2999232"/>
            <a:ext cx="457200" cy="164592"/>
          </a:xfrm>
          <a:prstGeom prst="rect">
            <a:avLst/>
          </a:prstGeom>
          <a:noFill/>
          <a:ln/>
        </p:spPr>
        <p:txBody>
          <a:bodyPr wrap="square" lIns="0" tIns="0" rIns="0" bIns="0" rtlCol="0" anchor="ctr"/>
          <a:lstStyle/>
          <a:p>
            <a:pPr algn="ctr" indent="0" marL="0">
              <a:buNone/>
            </a:pPr>
            <a:r>
              <a:rPr lang="en-US" sz="1000" b="1" dirty="0">
                <a:solidFill>
                  <a:srgbClr val="FFFFFF"/>
                </a:solidFill>
              </a:rPr>
              <a:t>01</a:t>
            </a:r>
            <a:endParaRPr lang="en-US" sz="1000" dirty="0"/>
          </a:p>
        </p:txBody>
      </p:sp>
      <p:sp>
        <p:nvSpPr>
          <p:cNvPr id="9" name="Text 7"/>
          <p:cNvSpPr/>
          <p:nvPr/>
        </p:nvSpPr>
        <p:spPr>
          <a:xfrm>
            <a:off x="1719072" y="2880360"/>
            <a:ext cx="9098280" cy="493776"/>
          </a:xfrm>
          <a:prstGeom prst="rect">
            <a:avLst/>
          </a:prstGeom>
          <a:noFill/>
          <a:ln/>
        </p:spPr>
        <p:txBody>
          <a:bodyPr wrap="square" lIns="0" tIns="0" rIns="0" bIns="0" rtlCol="0" anchor="ctr"/>
          <a:lstStyle/>
          <a:p>
            <a:pPr indent="0" marL="0">
              <a:buNone/>
            </a:pPr>
            <a:r>
              <a:rPr lang="en-US" sz="1700" dirty="0">
                <a:solidFill>
                  <a:srgbClr val="374151"/>
                </a:solidFill>
              </a:rPr>
              <a:t>Present multiple-choice questions and accept valid A, B, C, or D answers.</a:t>
            </a:r>
            <a:endParaRPr lang="en-US" sz="1700" dirty="0"/>
          </a:p>
        </p:txBody>
      </p:sp>
      <p:sp>
        <p:nvSpPr>
          <p:cNvPr id="10" name="Shape 8"/>
          <p:cNvSpPr/>
          <p:nvPr/>
        </p:nvSpPr>
        <p:spPr>
          <a:xfrm>
            <a:off x="1005840" y="3611880"/>
            <a:ext cx="457200" cy="457200"/>
          </a:xfrm>
          <a:prstGeom prst="ellipse">
            <a:avLst/>
          </a:prstGeom>
          <a:solidFill>
            <a:srgbClr val="5B4BC4"/>
          </a:solidFill>
          <a:ln w="12700">
            <a:solidFill>
              <a:srgbClr val="5B4BC4"/>
            </a:solidFill>
            <a:prstDash val="solid"/>
          </a:ln>
        </p:spPr>
      </p:sp>
      <p:sp>
        <p:nvSpPr>
          <p:cNvPr id="11" name="Text 9"/>
          <p:cNvSpPr/>
          <p:nvPr/>
        </p:nvSpPr>
        <p:spPr>
          <a:xfrm>
            <a:off x="1005840" y="3712464"/>
            <a:ext cx="457200" cy="164592"/>
          </a:xfrm>
          <a:prstGeom prst="rect">
            <a:avLst/>
          </a:prstGeom>
          <a:noFill/>
          <a:ln/>
        </p:spPr>
        <p:txBody>
          <a:bodyPr wrap="square" lIns="0" tIns="0" rIns="0" bIns="0" rtlCol="0" anchor="ctr"/>
          <a:lstStyle/>
          <a:p>
            <a:pPr algn="ctr" indent="0" marL="0">
              <a:buNone/>
            </a:pPr>
            <a:r>
              <a:rPr lang="en-US" sz="1000" b="1" dirty="0">
                <a:solidFill>
                  <a:srgbClr val="FFFFFF"/>
                </a:solidFill>
              </a:rPr>
              <a:t>02</a:t>
            </a:r>
            <a:endParaRPr lang="en-US" sz="1000" dirty="0"/>
          </a:p>
        </p:txBody>
      </p:sp>
      <p:sp>
        <p:nvSpPr>
          <p:cNvPr id="12" name="Text 10"/>
          <p:cNvSpPr/>
          <p:nvPr/>
        </p:nvSpPr>
        <p:spPr>
          <a:xfrm>
            <a:off x="1719072" y="3593592"/>
            <a:ext cx="9098280" cy="493776"/>
          </a:xfrm>
          <a:prstGeom prst="rect">
            <a:avLst/>
          </a:prstGeom>
          <a:noFill/>
          <a:ln/>
        </p:spPr>
        <p:txBody>
          <a:bodyPr wrap="square" lIns="0" tIns="0" rIns="0" bIns="0" rtlCol="0" anchor="ctr"/>
          <a:lstStyle/>
          <a:p>
            <a:pPr indent="0" marL="0">
              <a:buNone/>
            </a:pPr>
            <a:r>
              <a:rPr lang="en-US" sz="1700" dirty="0">
                <a:solidFill>
                  <a:srgbClr val="374151"/>
                </a:solidFill>
              </a:rPr>
              <a:t>Check each response and give immediate correct or incorrect feedback.</a:t>
            </a:r>
            <a:endParaRPr lang="en-US" sz="1700" dirty="0"/>
          </a:p>
        </p:txBody>
      </p:sp>
      <p:sp>
        <p:nvSpPr>
          <p:cNvPr id="13" name="Shape 11"/>
          <p:cNvSpPr/>
          <p:nvPr/>
        </p:nvSpPr>
        <p:spPr>
          <a:xfrm>
            <a:off x="1005840" y="4325112"/>
            <a:ext cx="457200" cy="457200"/>
          </a:xfrm>
          <a:prstGeom prst="ellipse">
            <a:avLst/>
          </a:prstGeom>
          <a:solidFill>
            <a:srgbClr val="5B4BC4"/>
          </a:solidFill>
          <a:ln w="12700">
            <a:solidFill>
              <a:srgbClr val="5B4BC4"/>
            </a:solidFill>
            <a:prstDash val="solid"/>
          </a:ln>
        </p:spPr>
      </p:sp>
      <p:sp>
        <p:nvSpPr>
          <p:cNvPr id="14" name="Text 12"/>
          <p:cNvSpPr/>
          <p:nvPr/>
        </p:nvSpPr>
        <p:spPr>
          <a:xfrm>
            <a:off x="1005840" y="4425696"/>
            <a:ext cx="457200" cy="164592"/>
          </a:xfrm>
          <a:prstGeom prst="rect">
            <a:avLst/>
          </a:prstGeom>
          <a:noFill/>
          <a:ln/>
        </p:spPr>
        <p:txBody>
          <a:bodyPr wrap="square" lIns="0" tIns="0" rIns="0" bIns="0" rtlCol="0" anchor="ctr"/>
          <a:lstStyle/>
          <a:p>
            <a:pPr algn="ctr" indent="0" marL="0">
              <a:buNone/>
            </a:pPr>
            <a:r>
              <a:rPr lang="en-US" sz="1000" b="1" dirty="0">
                <a:solidFill>
                  <a:srgbClr val="FFFFFF"/>
                </a:solidFill>
              </a:rPr>
              <a:t>03</a:t>
            </a:r>
            <a:endParaRPr lang="en-US" sz="1000" dirty="0"/>
          </a:p>
        </p:txBody>
      </p:sp>
      <p:sp>
        <p:nvSpPr>
          <p:cNvPr id="15" name="Text 13"/>
          <p:cNvSpPr/>
          <p:nvPr/>
        </p:nvSpPr>
        <p:spPr>
          <a:xfrm>
            <a:off x="1719072" y="4306824"/>
            <a:ext cx="9098280" cy="493776"/>
          </a:xfrm>
          <a:prstGeom prst="rect">
            <a:avLst/>
          </a:prstGeom>
          <a:noFill/>
          <a:ln/>
        </p:spPr>
        <p:txBody>
          <a:bodyPr wrap="square" lIns="0" tIns="0" rIns="0" bIns="0" rtlCol="0" anchor="ctr"/>
          <a:lstStyle/>
          <a:p>
            <a:pPr indent="0" marL="0">
              <a:buNone/>
            </a:pPr>
            <a:r>
              <a:rPr lang="en-US" sz="1700" dirty="0">
                <a:solidFill>
                  <a:srgbClr val="374151"/>
                </a:solidFill>
              </a:rPr>
              <a:t>Calculate the player’s score and percentage after the quiz.</a:t>
            </a:r>
            <a:endParaRPr lang="en-US" sz="1700" dirty="0"/>
          </a:p>
        </p:txBody>
      </p:sp>
      <p:sp>
        <p:nvSpPr>
          <p:cNvPr id="16" name="Shape 14"/>
          <p:cNvSpPr/>
          <p:nvPr/>
        </p:nvSpPr>
        <p:spPr>
          <a:xfrm>
            <a:off x="1005840" y="5038344"/>
            <a:ext cx="457200" cy="457200"/>
          </a:xfrm>
          <a:prstGeom prst="ellipse">
            <a:avLst/>
          </a:prstGeom>
          <a:solidFill>
            <a:srgbClr val="5B4BC4"/>
          </a:solidFill>
          <a:ln w="12700">
            <a:solidFill>
              <a:srgbClr val="5B4BC4"/>
            </a:solidFill>
            <a:prstDash val="solid"/>
          </a:ln>
        </p:spPr>
      </p:sp>
      <p:sp>
        <p:nvSpPr>
          <p:cNvPr id="17" name="Text 15"/>
          <p:cNvSpPr/>
          <p:nvPr/>
        </p:nvSpPr>
        <p:spPr>
          <a:xfrm>
            <a:off x="1005840" y="5138928"/>
            <a:ext cx="457200" cy="164592"/>
          </a:xfrm>
          <a:prstGeom prst="rect">
            <a:avLst/>
          </a:prstGeom>
          <a:noFill/>
          <a:ln/>
        </p:spPr>
        <p:txBody>
          <a:bodyPr wrap="square" lIns="0" tIns="0" rIns="0" bIns="0" rtlCol="0" anchor="ctr"/>
          <a:lstStyle/>
          <a:p>
            <a:pPr algn="ctr" indent="0" marL="0">
              <a:buNone/>
            </a:pPr>
            <a:r>
              <a:rPr lang="en-US" sz="1000" b="1" dirty="0">
                <a:solidFill>
                  <a:srgbClr val="FFFFFF"/>
                </a:solidFill>
              </a:rPr>
              <a:t>04</a:t>
            </a:r>
            <a:endParaRPr lang="en-US" sz="1000" dirty="0"/>
          </a:p>
        </p:txBody>
      </p:sp>
      <p:sp>
        <p:nvSpPr>
          <p:cNvPr id="18" name="Text 16"/>
          <p:cNvSpPr/>
          <p:nvPr/>
        </p:nvSpPr>
        <p:spPr>
          <a:xfrm>
            <a:off x="1719072" y="5020056"/>
            <a:ext cx="9098280" cy="493776"/>
          </a:xfrm>
          <a:prstGeom prst="rect">
            <a:avLst/>
          </a:prstGeom>
          <a:noFill/>
          <a:ln/>
        </p:spPr>
        <p:txBody>
          <a:bodyPr wrap="square" lIns="0" tIns="0" rIns="0" bIns="0" rtlCol="0" anchor="ctr"/>
          <a:lstStyle/>
          <a:p>
            <a:pPr indent="0" marL="0">
              <a:buNone/>
            </a:pPr>
            <a:r>
              <a:rPr lang="en-US" sz="1700" dirty="0">
                <a:solidFill>
                  <a:srgbClr val="374151"/>
                </a:solidFill>
              </a:rPr>
              <a:t>Track the highest score and allow the player to replay the quiz.</a:t>
            </a:r>
            <a:endParaRPr lang="en-US" sz="1700" dirty="0"/>
          </a:p>
        </p:txBody>
      </p:sp>
      <p:sp>
        <p:nvSpPr>
          <p:cNvPr id="25" name="Slide Number Placeholder 0"/>
          <p:cNvSpPr>
            <a:spLocks noGrp="1"/>
          </p:cNvSpPr>
          <p:nvPr>
            <p:ph type="sldNum" sz="quarter" idx="4294967295"/>
          </p:nvPr>
        </p:nvSpPr>
        <p:spPr>
          <a:xfrm>
            <a:off x="11750040" y="6473952"/>
            <a:ext cx="18288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502920"/>
            <a:ext cx="10881360" cy="502920"/>
          </a:xfrm>
          <a:prstGeom prst="rect">
            <a:avLst/>
          </a:prstGeom>
          <a:noFill/>
          <a:ln/>
        </p:spPr>
        <p:txBody>
          <a:bodyPr wrap="square" lIns="0" tIns="0" rIns="0" bIns="0" rtlCol="0" anchor="ctr"/>
          <a:lstStyle/>
          <a:p>
            <a:pPr indent="0" marL="0">
              <a:buNone/>
            </a:pPr>
            <a:r>
              <a:rPr lang="en-US" sz="2800" b="1" dirty="0">
                <a:solidFill>
                  <a:srgbClr val="1F2937"/>
                </a:solidFill>
                <a:latin typeface="Aptos Display" pitchFamily="34" charset="0"/>
                <a:ea typeface="Aptos Display" pitchFamily="34" charset="-122"/>
                <a:cs typeface="Aptos Display" pitchFamily="34" charset="-120"/>
              </a:rPr>
              <a:t>Flowchart</a:t>
            </a:r>
            <a:endParaRPr lang="en-US" sz="2800" dirty="0"/>
          </a:p>
        </p:txBody>
      </p:sp>
      <p:sp>
        <p:nvSpPr>
          <p:cNvPr id="3" name="Text 1"/>
          <p:cNvSpPr/>
          <p:nvPr/>
        </p:nvSpPr>
        <p:spPr>
          <a:xfrm>
            <a:off x="658368" y="1024128"/>
            <a:ext cx="10698480" cy="310896"/>
          </a:xfrm>
          <a:prstGeom prst="rect">
            <a:avLst/>
          </a:prstGeom>
          <a:noFill/>
          <a:ln/>
        </p:spPr>
        <p:txBody>
          <a:bodyPr wrap="square" lIns="0" tIns="0" rIns="0" bIns="0" rtlCol="0" anchor="ctr"/>
          <a:lstStyle/>
          <a:p>
            <a:pPr indent="0" marL="0">
              <a:buNone/>
            </a:pPr>
            <a:r>
              <a:rPr lang="en-US" sz="1300" dirty="0">
                <a:solidFill>
                  <a:srgbClr val="6B7280"/>
                </a:solidFill>
              </a:rPr>
              <a:t>Program flow from start to finish</a:t>
            </a:r>
            <a:endParaRPr lang="en-US" sz="1300" dirty="0"/>
          </a:p>
        </p:txBody>
      </p:sp>
      <p:sp>
        <p:nvSpPr>
          <p:cNvPr id="4" name="Shape 2"/>
          <p:cNvSpPr/>
          <p:nvPr/>
        </p:nvSpPr>
        <p:spPr>
          <a:xfrm>
            <a:off x="640080" y="1353312"/>
            <a:ext cx="10927080" cy="4892040"/>
          </a:xfrm>
          <a:prstGeom prst="roundRect">
            <a:avLst>
              <a:gd name="adj" fmla="val 1495"/>
            </a:avLst>
          </a:prstGeom>
          <a:solidFill>
            <a:srgbClr val="FFFFFF"/>
          </a:solidFill>
          <a:ln w="12700">
            <a:solidFill>
              <a:srgbClr val="E5E7EB"/>
            </a:solidFill>
            <a:prstDash val="solid"/>
          </a:ln>
          <a:effectLst>
            <a:outerShdw sx="100000" sy="100000" kx="0" ky="0" algn="bl" rotWithShape="0" blurRad="15240" dist="7620" dir="2700000">
              <a:srgbClr val="000000">
                <a:alpha val="7000"/>
              </a:srgbClr>
            </a:outerShdw>
          </a:effectLst>
        </p:spPr>
      </p:sp>
      <p:pic>
        <p:nvPicPr>
          <p:cNvPr id="5" name="Image 0" descr="/mnt/data/quiz_ppt_work/flowchart.png">    </p:cNvPr>
          <p:cNvPicPr>
            <a:picLocks noChangeAspect="1"/>
          </p:cNvPicPr>
          <p:nvPr/>
        </p:nvPicPr>
        <p:blipFill>
          <a:blip r:embed="rId1"/>
          <a:stretch>
            <a:fillRect/>
          </a:stretch>
        </p:blipFill>
        <p:spPr>
          <a:xfrm>
            <a:off x="3516781" y="1554480"/>
            <a:ext cx="5182822" cy="4526280"/>
          </a:xfrm>
          <a:prstGeom prst="rect">
            <a:avLst/>
          </a:prstGeom>
        </p:spPr>
      </p:pic>
      <p:sp>
        <p:nvSpPr>
          <p:cNvPr id="25" name="Slide Number Placeholder 0"/>
          <p:cNvSpPr>
            <a:spLocks noGrp="1"/>
          </p:cNvSpPr>
          <p:nvPr>
            <p:ph type="sldNum" sz="quarter" idx="4294967295"/>
          </p:nvPr>
        </p:nvSpPr>
        <p:spPr>
          <a:xfrm>
            <a:off x="11750040" y="6473952"/>
            <a:ext cx="18288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PHINMA - University of Iloilo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 Game with High Score</dc:title>
  <dc:subject>ITE 260 Mini Project Presentation</dc:subject>
  <dc:creator>MANGASANG, ANGELICA B.</dc:creator>
  <cp:lastModifiedBy>MANGASANG, ANGELICA B.</cp:lastModifiedBy>
  <cp:revision>1</cp:revision>
  <dcterms:created xsi:type="dcterms:W3CDTF">2026-10-08T04:08:04Z</dcterms:created>
  <dcterms:modified xsi:type="dcterms:W3CDTF">2026-10-08T04:08:04Z</dcterms:modified>
</cp:coreProperties>
</file>